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457200"/>
            <a:ext cx="1828800" cy="1828800"/>
          </a:xfrm>
          <a:prstGeom prst="ellipse">
            <a:avLst/>
          </a:prstGeom>
          <a:solidFill>
            <a:srgbClr val="4CAF50">
              <a:lumMod val="20000"/>
              <a:lumOff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5029200"/>
            <a:ext cx="1371600" cy="1371600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12121"/>
                </a:solidFill>
              </a:defRPr>
            </a:pPr>
            <a:r>
              <a:t>鲜食汇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4CAF50"/>
                </a:solidFill>
              </a:defRPr>
            </a:pPr>
            <a:r>
              <a:t>生鲜电商系统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57575"/>
                </a:solidFill>
              </a:defRPr>
            </a:pPr>
            <a:r>
              <a:t>Spring Boot + Vue 3 全栈开发项目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99263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E9E9E"/>
                </a:solidFill>
              </a:defRPr>
            </a:pPr>
            <a:r>
              <a:rPr lang="zh-CN" altLang="en-US" sz="2000"/>
              <a:t>汇报人：</a:t>
            </a:r>
            <a:r>
              <a:rPr lang="en-US" sz="2000"/>
              <a:t>     </a:t>
            </a:r>
            <a:r>
              <a:rPr lang="zh-CN" altLang="en-US" sz="2000"/>
              <a:t>陈博</a:t>
            </a:r>
            <a:endParaRPr lang="zh-CN" alt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9144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60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600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技术架构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860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31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功能模块详解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71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核心业务流程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6576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03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数据库设计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3434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389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前后端交互流程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0292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074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代码结构展示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7150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760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01 项目概述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2560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B5E20"/>
                </a:solidFill>
              </a:defRPr>
            </a:pPr>
            <a:r>
              <a:t>项目简介</a:t>
            </a:r>
          </a:p>
          <a:p>
            <a:pPr>
              <a:spcAft>
                <a:spcPts val="600"/>
              </a:spcAft>
            </a:pP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「鲜食汇」是一个现代化的生鲜电商平台，致力于为用户提供新鲜、优质的生鲜食品在线购买服务。系统支持商品浏览、购物车、订单管理等完整的电商功能。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3840480" cy="25603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D47A1"/>
                </a:solidFill>
              </a:defRPr>
            </a:pPr>
            <a:r>
              <a:t>项目目标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构建全栈电商应用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实现前后端分离架构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掌握主流开发技术栈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完成完整业务流程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1920240" cy="201168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t>🥬</a:t>
            </a:r>
          </a:p>
          <a:p>
            <a:pPr algn="ctr">
              <a:defRPr sz="1400" b="1">
                <a:solidFill>
                  <a:srgbClr val="212121"/>
                </a:solidFill>
              </a:defRPr>
            </a:pPr>
            <a:r>
              <a:t>生鲜品类齐全</a:t>
            </a:r>
          </a:p>
          <a:p>
            <a:pPr algn="ctr">
              <a:defRPr sz="1100">
                <a:solidFill>
                  <a:srgbClr val="757575"/>
                </a:solidFill>
              </a:defRPr>
            </a:pPr>
            <a:r>
              <a:t>叶菜、根茎、茄果、菌菇等10+品类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4389120"/>
            <a:ext cx="1920240" cy="201168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t>🚚</a:t>
            </a:r>
          </a:p>
          <a:p>
            <a:pPr algn="ctr">
              <a:defRPr sz="1400" b="1">
                <a:solidFill>
                  <a:srgbClr val="212121"/>
                </a:solidFill>
              </a:defRPr>
            </a:pPr>
            <a:r>
              <a:t>冷链物流支持</a:t>
            </a:r>
          </a:p>
          <a:p>
            <a:pPr algn="ctr">
              <a:defRPr sz="1100">
                <a:solidFill>
                  <a:srgbClr val="757575"/>
                </a:solidFill>
              </a:defRPr>
            </a:pPr>
            <a:r>
              <a:t>支持冷链/常温两种配送方式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389120"/>
            <a:ext cx="1920240" cy="201168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t>📱</a:t>
            </a:r>
          </a:p>
          <a:p>
            <a:pPr algn="ctr">
              <a:defRPr sz="1400" b="1">
                <a:solidFill>
                  <a:srgbClr val="212121"/>
                </a:solidFill>
              </a:defRPr>
            </a:pPr>
            <a:r>
              <a:t>移动端适配</a:t>
            </a:r>
          </a:p>
          <a:p>
            <a:pPr algn="ctr">
              <a:defRPr sz="1100">
                <a:solidFill>
                  <a:srgbClr val="757575"/>
                </a:solidFill>
              </a:defRPr>
            </a:pPr>
            <a:r>
              <a:t>响应式设计，支持多终端访问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4389120"/>
            <a:ext cx="1920240" cy="201168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/>
            </a:pPr>
            <a:r>
              <a:t>🛒</a:t>
            </a:r>
          </a:p>
          <a:p>
            <a:pPr algn="ctr">
              <a:defRPr sz="1400" b="1">
                <a:solidFill>
                  <a:srgbClr val="212121"/>
                </a:solidFill>
              </a:defRPr>
            </a:pPr>
            <a:r>
              <a:t>完整电商流程</a:t>
            </a:r>
          </a:p>
          <a:p>
            <a:pPr algn="ctr">
              <a:defRPr sz="1100">
                <a:solidFill>
                  <a:srgbClr val="757575"/>
                </a:solidFill>
              </a:defRPr>
            </a:pPr>
            <a:r>
              <a:t>浏览-加购-下单-支付全链路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02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CAF50"/>
                </a:solidFill>
              </a:defRPr>
            </a:pPr>
            <a:r>
              <a:t>前端技术栈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84048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B5E20"/>
                </a:solidFill>
              </a:defRPr>
            </a:pPr>
            <a:r>
              <a:t>  Vue 3</a:t>
            </a:r>
          </a:p>
          <a:p>
            <a:pPr>
              <a:defRPr sz="1200">
                <a:solidFill>
                  <a:srgbClr val="444444"/>
                </a:solidFill>
              </a:defRPr>
            </a:pPr>
            <a:r>
              <a:t>  渐进式JavaScript框架，组合式API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384048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B5E20"/>
                </a:solidFill>
              </a:defRPr>
            </a:pPr>
            <a:r>
              <a:t>  Vite</a:t>
            </a:r>
          </a:p>
          <a:p>
            <a:pPr>
              <a:defRPr sz="1200">
                <a:solidFill>
                  <a:srgbClr val="444444"/>
                </a:solidFill>
              </a:defRPr>
            </a:pPr>
            <a:r>
              <a:t>  下一代前端构建工具，秒级热更新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39"/>
            <a:ext cx="384048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B5E20"/>
                </a:solidFill>
              </a:defRPr>
            </a:pPr>
            <a:r>
              <a:t>  Vue Router</a:t>
            </a:r>
          </a:p>
          <a:p>
            <a:pPr>
              <a:defRPr sz="1200">
                <a:solidFill>
                  <a:srgbClr val="444444"/>
                </a:solidFill>
              </a:defRPr>
            </a:pPr>
            <a:r>
              <a:t>  官方路由管理器，页面导航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69079"/>
            <a:ext cx="384048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B5E20"/>
                </a:solidFill>
              </a:defRPr>
            </a:pPr>
            <a:r>
              <a:t>  Pinia</a:t>
            </a:r>
          </a:p>
          <a:p>
            <a:pPr>
              <a:defRPr sz="1200">
                <a:solidFill>
                  <a:srgbClr val="444444"/>
                </a:solidFill>
              </a:defRPr>
            </a:pPr>
            <a:r>
              <a:t>  轻量级状态管理，替代Vuex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3840480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B5E20"/>
                </a:solidFill>
              </a:defRPr>
            </a:pPr>
            <a:r>
              <a:t>  Bootstrap 5</a:t>
            </a:r>
          </a:p>
          <a:p>
            <a:pPr>
              <a:defRPr sz="1200">
                <a:solidFill>
                  <a:srgbClr val="444444"/>
                </a:solidFill>
              </a:defRPr>
            </a:pPr>
            <a:r>
              <a:t>  响应式UI框架，移动优先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96F3"/>
                </a:solidFill>
              </a:defRPr>
            </a:pPr>
            <a:r>
              <a:t>后端技术栈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737360"/>
            <a:ext cx="384048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  Spring Boot 2.7</a:t>
            </a:r>
          </a:p>
          <a:p>
            <a:pPr>
              <a:defRPr sz="1200">
                <a:solidFill>
                  <a:srgbClr val="444444"/>
                </a:solidFill>
              </a:defRPr>
            </a:pPr>
            <a:r>
              <a:t>  企业级Java开发框架，自动配置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514600"/>
            <a:ext cx="384048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  MyBatis-Plus</a:t>
            </a:r>
          </a:p>
          <a:p>
            <a:pPr>
              <a:defRPr sz="1200">
                <a:solidFill>
                  <a:srgbClr val="444444"/>
                </a:solidFill>
              </a:defRPr>
            </a:pPr>
            <a:r>
              <a:t>  增强型ORM框架，简化CRUD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3291839"/>
            <a:ext cx="384048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  MySQL 8.0</a:t>
            </a:r>
          </a:p>
          <a:p>
            <a:pPr>
              <a:defRPr sz="1200">
                <a:solidFill>
                  <a:srgbClr val="444444"/>
                </a:solidFill>
              </a:defRPr>
            </a:pPr>
            <a:r>
              <a:t>  关系型数据库，数据持久化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4069079"/>
            <a:ext cx="384048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  Redis</a:t>
            </a:r>
          </a:p>
          <a:p>
            <a:pPr>
              <a:defRPr sz="1200">
                <a:solidFill>
                  <a:srgbClr val="444444"/>
                </a:solidFill>
              </a:defRPr>
            </a:pPr>
            <a:r>
              <a:t>  高性能缓存，会话管理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4846320"/>
            <a:ext cx="3840480" cy="6400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  Java 17</a:t>
            </a:r>
          </a:p>
          <a:p>
            <a:pPr>
              <a:defRPr sz="1200">
                <a:solidFill>
                  <a:srgbClr val="444444"/>
                </a:solidFill>
              </a:defRPr>
            </a:pPr>
            <a:r>
              <a:t>  LTS长期支持版本，新特性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669280"/>
            <a:ext cx="8229600" cy="91440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444444"/>
                </a:solidFill>
              </a:defRPr>
            </a:pPr>
            <a:r>
              <a:t>架构模式：前后端分离  |  RESTful API  |  MVC分层架构  |  组件化开发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02 系统架构图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B5E20"/>
                </a:solidFill>
              </a:defRPr>
            </a:pPr>
            <a:r>
              <a:t>表示层 (Presentation Layer)</a:t>
            </a:r>
          </a:p>
          <a:p>
            <a:pPr algn="ctr">
              <a:defRPr sz="1400">
                <a:solidFill>
                  <a:srgbClr val="444444"/>
                </a:solidFill>
              </a:defRPr>
            </a:pPr>
            <a:r>
              <a:t>Vue 3 + Vue Router + Pinia + Bootstrap 5 + Axios</a:t>
            </a:r>
          </a:p>
        </p:txBody>
      </p:sp>
      <p:sp>
        <p:nvSpPr>
          <p:cNvPr id="5" name="Down Arrow 4"/>
          <p:cNvSpPr/>
          <p:nvPr/>
        </p:nvSpPr>
        <p:spPr>
          <a:xfrm>
            <a:off x="4297680" y="2514600"/>
            <a:ext cx="548640" cy="365760"/>
          </a:xfrm>
          <a:prstGeom prst="down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8229600" cy="109728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D47A1"/>
                </a:solidFill>
              </a:defRPr>
            </a:pPr>
            <a:r>
              <a:t>控制层 (Controller Layer)</a:t>
            </a:r>
          </a:p>
          <a:p>
            <a:pPr algn="ctr">
              <a:defRPr sz="1400">
                <a:solidFill>
                  <a:srgbClr val="444444"/>
                </a:solidFill>
              </a:defRPr>
            </a:pPr>
            <a:r>
              <a:t>RESTful API  |  @RestController  |  参数校验 @Valid  |  全局异常处理</a:t>
            </a:r>
          </a:p>
        </p:txBody>
      </p:sp>
      <p:sp>
        <p:nvSpPr>
          <p:cNvPr id="7" name="Down Arrow 6"/>
          <p:cNvSpPr/>
          <p:nvPr/>
        </p:nvSpPr>
        <p:spPr>
          <a:xfrm>
            <a:off x="4297680" y="4069080"/>
            <a:ext cx="548640" cy="365760"/>
          </a:xfrm>
          <a:prstGeom prst="down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8229600" cy="109728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65100"/>
                </a:solidFill>
              </a:defRPr>
            </a:pPr>
            <a:r>
              <a:t>业务层 (Service Layer)</a:t>
            </a:r>
          </a:p>
          <a:p>
            <a:pPr algn="ctr">
              <a:defRPr sz="1400">
                <a:solidFill>
                  <a:srgbClr val="444444"/>
                </a:solidFill>
              </a:defRPr>
            </a:pPr>
            <a:r>
              <a:t>业务逻辑  |  @Transactional 事务管理  |  DTO/VO转换  |  业务校验</a:t>
            </a:r>
          </a:p>
        </p:txBody>
      </p:sp>
      <p:sp>
        <p:nvSpPr>
          <p:cNvPr id="9" name="Down Arrow 8"/>
          <p:cNvSpPr/>
          <p:nvPr/>
        </p:nvSpPr>
        <p:spPr>
          <a:xfrm>
            <a:off x="4297680" y="5623560"/>
            <a:ext cx="548640" cy="365760"/>
          </a:xfrm>
          <a:prstGeom prst="down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6035040"/>
            <a:ext cx="8229600" cy="640080"/>
          </a:xfrm>
          <a:prstGeom prst="roundRect">
            <a:avLst/>
          </a:prstGeom>
          <a:solidFill>
            <a:srgbClr val="F3E5F5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6A1B9A"/>
                </a:solidFill>
              </a:defRPr>
            </a:pPr>
            <a:r>
              <a:t>数据层 (Mapper Layer)  →  MyBatis-Plus  →  MySQL + Redis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03 功能模块详解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24688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/>
            </a:pPr>
            <a:r>
              <a:t>👤</a:t>
            </a:r>
          </a:p>
          <a:p>
            <a:pPr algn="ctr">
              <a:defRPr sz="1800" b="1">
                <a:solidFill>
                  <a:srgbClr val="4CAF50"/>
                </a:solidFill>
              </a:defRPr>
            </a:pPr>
            <a:r>
              <a:t>用户模块</a:t>
            </a:r>
          </a:p>
          <a:p>
            <a:pPr>
              <a:spcAft>
                <a:spcPts val="400"/>
              </a:spcAft>
            </a:pP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登录注册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个人中心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Token鉴权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信息管理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560320" cy="24688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/>
            </a:pPr>
            <a:r>
              <a:t>📦</a:t>
            </a:r>
          </a:p>
          <a:p>
            <a:pPr algn="ctr">
              <a:defRPr sz="1800" b="1">
                <a:solidFill>
                  <a:srgbClr val="2196F3"/>
                </a:solidFill>
              </a:defRPr>
            </a:pPr>
            <a:r>
              <a:t>商品模块</a:t>
            </a:r>
          </a:p>
          <a:p>
            <a:pPr>
              <a:spcAft>
                <a:spcPts val="400"/>
              </a:spcAft>
            </a:pP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分类浏览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商品详情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SPU/SKU管理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库存管理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2560320" cy="24688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/>
            </a:pPr>
            <a:r>
              <a:t>🛒</a:t>
            </a:r>
          </a:p>
          <a:p>
            <a:pPr algn="ctr">
              <a:defRPr sz="1800" b="1">
                <a:solidFill>
                  <a:srgbClr val="FF9800"/>
                </a:solidFill>
              </a:defRPr>
            </a:pPr>
            <a:r>
              <a:t>购物车模块</a:t>
            </a:r>
          </a:p>
          <a:p>
            <a:pPr>
              <a:spcAft>
                <a:spcPts val="400"/>
              </a:spcAft>
            </a:pP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加入购物车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数量修改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商品结算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价格计算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2560320" cy="246888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/>
            </a:pPr>
            <a:r>
              <a:t>📋</a:t>
            </a:r>
          </a:p>
          <a:p>
            <a:pPr algn="ctr">
              <a:defRPr sz="1800" b="1">
                <a:solidFill>
                  <a:srgbClr val="9C27B0"/>
                </a:solidFill>
              </a:defRPr>
            </a:pPr>
            <a:r>
              <a:t>订单模块</a:t>
            </a:r>
          </a:p>
          <a:p>
            <a:pPr>
              <a:spcAft>
                <a:spcPts val="400"/>
              </a:spcAft>
            </a:pP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订单创建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订单查询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订单详情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状态管理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4114800"/>
            <a:ext cx="2560320" cy="2468880"/>
          </a:xfrm>
          <a:prstGeom prst="round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/>
            </a:pPr>
            <a:r>
              <a:t>📍</a:t>
            </a:r>
          </a:p>
          <a:p>
            <a:pPr algn="ctr">
              <a:defRPr sz="1800" b="1">
                <a:solidFill>
                  <a:srgbClr val="009688"/>
                </a:solidFill>
              </a:defRPr>
            </a:pPr>
            <a:r>
              <a:t>地址模块</a:t>
            </a:r>
          </a:p>
          <a:p>
            <a:pPr>
              <a:spcAft>
                <a:spcPts val="400"/>
              </a:spcAft>
            </a:pP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地址管理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地址编辑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默认地址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地址快照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2560320" cy="246888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/>
            </a:pPr>
            <a:r>
              <a:t>📂</a:t>
            </a:r>
          </a:p>
          <a:p>
            <a:pPr algn="ctr">
              <a:defRPr sz="1800" b="1">
                <a:solidFill>
                  <a:srgbClr val="F44336"/>
                </a:solidFill>
              </a:defRPr>
            </a:pPr>
            <a:r>
              <a:t>分类模块</a:t>
            </a:r>
          </a:p>
          <a:p>
            <a:pPr>
              <a:spcAft>
                <a:spcPts val="400"/>
              </a:spcAft>
            </a:pP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一级分类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二级分类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分类筛选</a:t>
            </a:r>
          </a:p>
          <a:p>
            <a:pPr algn="ctr">
              <a:defRPr sz="1300">
                <a:solidFill>
                  <a:srgbClr val="444444"/>
                </a:solidFill>
              </a:defRPr>
            </a:pPr>
            <a:r>
              <a:t>• 树形结构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04 核心业务流程 - 用户下单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554480" cy="274320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浏览商品</a:t>
            </a:r>
          </a:p>
          <a:p>
            <a:pPr>
              <a:spcAft>
                <a:spcPts val="600"/>
              </a:spcAft>
            </a:pP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用户在首页或分类页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浏览生鲜商品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查看商品详情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18872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4520" y="2468880"/>
            <a:ext cx="18288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7400" y="1371600"/>
            <a:ext cx="1554480" cy="274320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加入购物车</a:t>
            </a:r>
          </a:p>
          <a:p>
            <a:pPr>
              <a:spcAft>
                <a:spcPts val="600"/>
              </a:spcAft>
            </a:pP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选择SKU规格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（如：500g/袋）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设置购买数量</a:t>
            </a:r>
          </a:p>
        </p:txBody>
      </p:sp>
      <p:sp>
        <p:nvSpPr>
          <p:cNvPr id="8" name="Oval 7"/>
          <p:cNvSpPr/>
          <p:nvPr/>
        </p:nvSpPr>
        <p:spPr>
          <a:xfrm>
            <a:off x="2560320" y="118872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57600" y="2468880"/>
            <a:ext cx="18288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0" y="1371600"/>
            <a:ext cx="1554480" cy="274320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确认订单</a:t>
            </a:r>
          </a:p>
          <a:p>
            <a:pPr>
              <a:spcAft>
                <a:spcPts val="600"/>
              </a:spcAft>
            </a:pP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选择收货地址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确认商品信息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计算总价</a:t>
            </a:r>
          </a:p>
        </p:txBody>
      </p:sp>
      <p:sp>
        <p:nvSpPr>
          <p:cNvPr id="11" name="Oval 10"/>
          <p:cNvSpPr/>
          <p:nvPr/>
        </p:nvSpPr>
        <p:spPr>
          <a:xfrm>
            <a:off x="4343400" y="118872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40680" y="2468880"/>
            <a:ext cx="18288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23559" y="1371600"/>
            <a:ext cx="1554480" cy="274320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提交订单</a:t>
            </a:r>
          </a:p>
          <a:p>
            <a:pPr>
              <a:spcAft>
                <a:spcPts val="600"/>
              </a:spcAft>
            </a:pP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生成订单号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扣减库存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保存订单快照</a:t>
            </a:r>
          </a:p>
        </p:txBody>
      </p:sp>
      <p:sp>
        <p:nvSpPr>
          <p:cNvPr id="14" name="Oval 13"/>
          <p:cNvSpPr/>
          <p:nvPr/>
        </p:nvSpPr>
        <p:spPr>
          <a:xfrm>
            <a:off x="6126479" y="118872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23759" y="2468880"/>
            <a:ext cx="18288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1371600"/>
            <a:ext cx="1554480" cy="274320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订单完成</a:t>
            </a:r>
          </a:p>
          <a:p>
            <a:pPr>
              <a:spcAft>
                <a:spcPts val="600"/>
              </a:spcAft>
            </a:pP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订单状态更新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库存最终确认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用户可查看订单</a:t>
            </a:r>
          </a:p>
        </p:txBody>
      </p:sp>
      <p:sp>
        <p:nvSpPr>
          <p:cNvPr id="17" name="Oval 16"/>
          <p:cNvSpPr/>
          <p:nvPr/>
        </p:nvSpPr>
        <p:spPr>
          <a:xfrm>
            <a:off x="7909560" y="118872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572000"/>
            <a:ext cx="8595360" cy="20116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B5E20"/>
                </a:solidFill>
              </a:defRPr>
            </a:pPr>
            <a:r>
              <a:t>技术实现要点</a:t>
            </a:r>
          </a:p>
          <a:p/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订单号生成：时间戳 + 随机数，确保唯一性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库存扣减：使用乐观锁（version字段）防止超卖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价格计算：后端重新计算，防止前端篡改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地址快照：下单时保存地址信息，防止后续修改影响历史订单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事务管理：@Transactional确保订单创建和库存扣减的原子性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04 SPU/SKU商品模型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840480" cy="256032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D47A1"/>
                </a:solidFill>
              </a:defRPr>
            </a:pPr>
            <a:r>
              <a:t>SPU - 标准化产品单元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Standard Product Unit</a:t>
            </a:r>
          </a:p>
          <a:p/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商品名称（如：有机菠菜）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分类ID（叶菜类）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品牌/产地（阳光农场）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商品描述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主图、详情图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冷链标识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保质期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188720"/>
            <a:ext cx="3840480" cy="256032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65100"/>
                </a:solidFill>
              </a:defRPr>
            </a:pPr>
            <a:r>
              <a:t>SKU - 库存量单位</a:t>
            </a:r>
          </a:p>
          <a:p>
            <a:pPr>
              <a:defRPr sz="1200" i="1">
                <a:solidFill>
                  <a:srgbClr val="646464"/>
                </a:solidFill>
              </a:defRPr>
            </a:pPr>
            <a:r>
              <a:t>Stock Keeping Unit</a:t>
            </a:r>
          </a:p>
          <a:p/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关联SPU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规格名称（如：250g/袋）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SKU编码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售价、原价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库存数量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预警库存</a:t>
            </a:r>
          </a:p>
          <a:p>
            <a:pPr>
              <a:spcAft>
                <a:spcPts val="200"/>
              </a:spcAft>
              <a:defRPr sz="1300">
                <a:solidFill>
                  <a:srgbClr val="444444"/>
                </a:solidFill>
              </a:defRPr>
            </a:pPr>
            <a:r>
              <a:t>• 重量描述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实际示例：有机菠菜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480560"/>
            <a:ext cx="8229600" cy="210312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SPU: 有机菠菜 | 品牌: 阳光农场 | 分类: 叶菜类 | 冷链: 是 | 保质期: 3天</a:t>
            </a:r>
          </a:p>
          <a:p>
            <a:pPr>
              <a:spcAft>
                <a:spcPts val="800"/>
              </a:spcAft>
            </a:pPr>
          </a:p>
          <a:p>
            <a:pPr>
              <a:defRPr sz="1300">
                <a:solidFill>
                  <a:srgbClr val="444444"/>
                </a:solidFill>
                <a:latin typeface="Consolas" panose="020B0609020204030204"/>
              </a:defRPr>
            </a:pPr>
            <a:r>
              <a:t>├── SKU 1: 有机菠菜 250g  |  编码: YC-BC-250G  |  售价: ¥5.90  |  原价: ¥7.90  |  库存: 200</a:t>
            </a:r>
          </a:p>
          <a:p>
            <a:pPr>
              <a:defRPr sz="1300">
                <a:solidFill>
                  <a:srgbClr val="444444"/>
                </a:solidFill>
                <a:latin typeface="Consolas" panose="020B0609020204030204"/>
              </a:defRPr>
            </a:pPr>
            <a:r>
              <a:t>└── SKU 2: 有机菠菜 500g  |  编码: YC-BC-500G  |  售价: ¥9.90  |  原价: ¥13.90  |  库存: 150</a:t>
            </a:r>
          </a:p>
          <a:p>
            <a:pPr>
              <a:spcAft>
                <a:spcPts val="800"/>
              </a:spcAft>
            </a:pPr>
          </a:p>
          <a:p>
            <a:pPr>
              <a:defRPr sz="1300" b="1">
                <a:solidFill>
                  <a:srgbClr val="4CAF50"/>
                </a:solidFill>
              </a:defRPr>
            </a:pPr>
            <a:r>
              <a:t>优势：一个商品（SPU）可以有多个规格（SKU），方便管理和展示不同规格的价格、库存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04 核心业务流程 - 购物车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554480" cy="274320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商品详情页</a:t>
            </a:r>
          </a:p>
          <a:p>
            <a:pPr>
              <a:spcAft>
                <a:spcPts val="600"/>
              </a:spcAft>
            </a:pP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选择SKU规格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（如：有机菠菜 250g）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点击「加入购物车」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18872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4520" y="2468880"/>
            <a:ext cx="18288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7400" y="1371600"/>
            <a:ext cx="1554480" cy="274320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购物车页面</a:t>
            </a:r>
          </a:p>
          <a:p>
            <a:pPr>
              <a:spcAft>
                <a:spcPts val="600"/>
              </a:spcAft>
            </a:pP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显示所有已选商品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可修改数量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显示单价和小计</a:t>
            </a:r>
          </a:p>
        </p:txBody>
      </p:sp>
      <p:sp>
        <p:nvSpPr>
          <p:cNvPr id="8" name="Oval 7"/>
          <p:cNvSpPr/>
          <p:nvPr/>
        </p:nvSpPr>
        <p:spPr>
          <a:xfrm>
            <a:off x="2560320" y="118872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57600" y="2468880"/>
            <a:ext cx="18288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0" y="1371600"/>
            <a:ext cx="1554480" cy="274320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选择结算</a:t>
            </a:r>
          </a:p>
          <a:p>
            <a:pPr>
              <a:spcAft>
                <a:spcPts val="600"/>
              </a:spcAft>
            </a:pP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勾选要结算的商品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计算选中商品总价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点击「去结算」</a:t>
            </a:r>
          </a:p>
        </p:txBody>
      </p:sp>
      <p:sp>
        <p:nvSpPr>
          <p:cNvPr id="11" name="Oval 10"/>
          <p:cNvSpPr/>
          <p:nvPr/>
        </p:nvSpPr>
        <p:spPr>
          <a:xfrm>
            <a:off x="4343400" y="118872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40680" y="2468880"/>
            <a:ext cx="18288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23559" y="1371600"/>
            <a:ext cx="1554480" cy="274320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订单确认页</a:t>
            </a:r>
          </a:p>
          <a:p>
            <a:pPr>
              <a:spcAft>
                <a:spcPts val="600"/>
              </a:spcAft>
            </a:pP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显示收货地址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显示商品清单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计算最终金额</a:t>
            </a:r>
          </a:p>
        </p:txBody>
      </p:sp>
      <p:sp>
        <p:nvSpPr>
          <p:cNvPr id="14" name="Oval 13"/>
          <p:cNvSpPr/>
          <p:nvPr/>
        </p:nvSpPr>
        <p:spPr>
          <a:xfrm>
            <a:off x="6126479" y="118872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23759" y="2468880"/>
            <a:ext cx="182880" cy="274320"/>
          </a:xfrm>
          <a:prstGeom prst="rightArrow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1371600"/>
            <a:ext cx="1554480" cy="274320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提交订单</a:t>
            </a:r>
          </a:p>
          <a:p>
            <a:pPr>
              <a:spcAft>
                <a:spcPts val="600"/>
              </a:spcAft>
            </a:pP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创建订单记录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清空已结算商品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跳转订单详情</a:t>
            </a:r>
          </a:p>
        </p:txBody>
      </p:sp>
      <p:sp>
        <p:nvSpPr>
          <p:cNvPr id="17" name="Oval 16"/>
          <p:cNvSpPr/>
          <p:nvPr/>
        </p:nvSpPr>
        <p:spPr>
          <a:xfrm>
            <a:off x="7909560" y="118872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4572000"/>
            <a:ext cx="8595360" cy="20116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65100"/>
                </a:solidFill>
              </a:defRPr>
            </a:pPr>
            <a:r>
              <a:t>购物车技术要点</a:t>
            </a:r>
          </a:p>
          <a:p/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购物车数据存储：前端localStorage + 后端数据库双保险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价格实时计算：每次修改数量后重新计算小计和总价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库存校验：加入购物车时检查库存是否充足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SKU选择：弹出规格选择面板，支持多规格商品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批量操作：支持全选、反选、批量删除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04 核心业务流程 - 用户认证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t>登录流程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402336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用户输入</a:t>
            </a:r>
          </a:p>
          <a:p>
            <a:pPr>
              <a:defRPr sz="1100">
                <a:solidFill>
                  <a:srgbClr val="757575"/>
                </a:solidFill>
              </a:defRPr>
            </a:pPr>
            <a:r>
              <a:t>输入用户名和密码</a:t>
            </a:r>
            <a:br/>
            <a:r>
              <a:t>前端表单校验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06040"/>
            <a:ext cx="402336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发送请求</a:t>
            </a:r>
          </a:p>
          <a:p>
            <a:pPr>
              <a:defRPr sz="1100">
                <a:solidFill>
                  <a:srgbClr val="757575"/>
                </a:solidFill>
              </a:defRPr>
            </a:pPr>
            <a:r>
              <a:t>POST /api/users/login</a:t>
            </a:r>
            <a:br/>
            <a:r>
              <a:t>携带用户名密码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566160"/>
            <a:ext cx="402336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后端验证</a:t>
            </a:r>
          </a:p>
          <a:p>
            <a:pPr>
              <a:defRPr sz="1100">
                <a:solidFill>
                  <a:srgbClr val="757575"/>
                </a:solidFill>
              </a:defRPr>
            </a:pPr>
            <a:r>
              <a:t>查询数据库</a:t>
            </a:r>
            <a:br/>
            <a:r>
              <a:t>密码BCrypt比对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526280"/>
            <a:ext cx="402336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466344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生成Token</a:t>
            </a:r>
          </a:p>
          <a:p>
            <a:pPr>
              <a:defRPr sz="1100">
                <a:solidFill>
                  <a:srgbClr val="757575"/>
                </a:solidFill>
              </a:defRPr>
            </a:pPr>
            <a:r>
              <a:t>JWT生成访问令牌</a:t>
            </a:r>
            <a:br/>
            <a:r>
              <a:t>返回前端存储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486400"/>
            <a:ext cx="4023360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" y="56235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12121"/>
                </a:solidFill>
              </a:defRPr>
            </a:pPr>
            <a:r>
              <a:t>后续请求</a:t>
            </a:r>
          </a:p>
          <a:p>
            <a:pPr>
              <a:defRPr sz="1100">
                <a:solidFill>
                  <a:srgbClr val="757575"/>
                </a:solidFill>
              </a:defRPr>
            </a:pPr>
            <a:r>
              <a:t>请求头携带Token</a:t>
            </a:r>
            <a:br/>
            <a:r>
              <a:t>后端验证身份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96F3"/>
                </a:solidFill>
              </a:defRPr>
            </a:pPr>
            <a:r>
              <a:t>技术实现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645920"/>
            <a:ext cx="4206240" cy="48463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D47A1"/>
                </a:solidFill>
              </a:defRPr>
            </a:pPr>
            <a:r>
              <a:t>安全措施</a:t>
            </a:r>
          </a:p>
          <a:p/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✓ 密码加密：BCrypt不可逆加密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✓ Token鉴权：JWT无状态认证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✓ 参数校验：@Valid注解校验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✓ 异常处理：统一错误响应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✓ 跨域配置：CORS安全策略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前端实现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登录成功后存储Token到localStorage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Axios请求拦截器自动携带Token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路由守卫检查登录状态</a:t>
            </a:r>
          </a:p>
          <a:p>
            <a:pPr>
              <a:spcAft>
                <a:spcPts val="300"/>
              </a:spcAft>
              <a:defRPr sz="1300">
                <a:solidFill>
                  <a:srgbClr val="444444"/>
                </a:solidFill>
              </a:defRPr>
            </a:pPr>
            <a:r>
              <a:t>• Pinia管理用户登录状态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06 前后端交互流程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828800" cy="502920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B5E20"/>
                </a:solidFill>
              </a:defRPr>
            </a:pPr>
            <a:r>
              <a:t>前端</a:t>
            </a:r>
          </a:p>
          <a:p/>
          <a:p>
            <a:pPr algn="ctr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• Vue组件</a:t>
            </a:r>
          </a:p>
          <a:p>
            <a:pPr algn="ctr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• Pinia Store</a:t>
            </a:r>
          </a:p>
          <a:p>
            <a:pPr algn="ctr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• Axios</a:t>
            </a:r>
          </a:p>
          <a:p>
            <a:pPr algn="ctr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• Vue 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2743200" cy="5029200"/>
          </a:xfrm>
          <a:prstGeom prst="roundRect">
            <a:avLst/>
          </a:prstGeom>
          <a:solidFill>
            <a:srgbClr val="FFF3E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E65100"/>
                </a:solidFill>
              </a:defRPr>
            </a:pPr>
            <a:r>
              <a:t>RESTful API</a:t>
            </a:r>
          </a:p>
          <a:p/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  <a:latin typeface="Consolas" panose="020B0609020204030204"/>
              </a:defRPr>
            </a:pPr>
            <a:r>
              <a:t>GET /api/products - 商品列表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  <a:latin typeface="Consolas" panose="020B0609020204030204"/>
              </a:defRPr>
            </a:pPr>
            <a:r>
              <a:t>GET /api/products/{id} - 商品详情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  <a:latin typeface="Consolas" panose="020B0609020204030204"/>
              </a:defRPr>
            </a:pPr>
            <a:r>
              <a:t>POST /api/cart - 加入购物车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  <a:latin typeface="Consolas" panose="020B0609020204030204"/>
              </a:defRPr>
            </a:pPr>
            <a:r>
              <a:t>GET /api/cart - 购物车列表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  <a:latin typeface="Consolas" panose="020B0609020204030204"/>
              </a:defRPr>
            </a:pPr>
            <a:r>
              <a:t>POST /api/orders - 创建订单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  <a:latin typeface="Consolas" panose="020B0609020204030204"/>
              </a:defRPr>
            </a:pPr>
            <a:r>
              <a:t>GET /api/orders - 订单列表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  <a:latin typeface="Consolas" panose="020B0609020204030204"/>
              </a:defRPr>
            </a:pPr>
            <a:r>
              <a:t>POST /api/users/login - 用户登录</a:t>
            </a:r>
          </a:p>
          <a:p>
            <a:pPr>
              <a:spcAft>
                <a:spcPts val="400"/>
              </a:spcAft>
              <a:defRPr sz="1100">
                <a:solidFill>
                  <a:srgbClr val="444444"/>
                </a:solidFill>
                <a:latin typeface="Consolas" panose="020B0609020204030204"/>
              </a:defRPr>
            </a:pPr>
            <a:r>
              <a:t>GET /api/addresses - 地址列表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1828800" cy="502920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D47A1"/>
                </a:solidFill>
              </a:defRPr>
            </a:pPr>
            <a:r>
              <a:t>后端</a:t>
            </a:r>
          </a:p>
          <a:p/>
          <a:p>
            <a:pPr algn="ctr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• Controller</a:t>
            </a:r>
          </a:p>
          <a:p>
            <a:pPr algn="ctr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• Service</a:t>
            </a:r>
          </a:p>
          <a:p>
            <a:pPr algn="ctr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• Mapper</a:t>
            </a:r>
          </a:p>
          <a:p>
            <a:pPr algn="ctr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• MySQL/Redis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3200400"/>
            <a:ext cx="731520" cy="36576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ft Arrow 7"/>
          <p:cNvSpPr/>
          <p:nvPr/>
        </p:nvSpPr>
        <p:spPr>
          <a:xfrm>
            <a:off x="2377440" y="4114800"/>
            <a:ext cx="731520" cy="365760"/>
          </a:xfrm>
          <a:prstGeom prst="lef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743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CAF50"/>
                </a:solidFill>
              </a:defRPr>
            </a:pPr>
            <a:r>
              <a:t>请求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805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196F3"/>
                </a:solidFill>
              </a:defRPr>
            </a:pPr>
            <a:r>
              <a:t>响应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35040" y="3200400"/>
            <a:ext cx="731520" cy="365760"/>
          </a:xfrm>
          <a:prstGeom prst="right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ft Arrow 11"/>
          <p:cNvSpPr/>
          <p:nvPr/>
        </p:nvSpPr>
        <p:spPr>
          <a:xfrm>
            <a:off x="6035040" y="4114800"/>
            <a:ext cx="731520" cy="365760"/>
          </a:xfrm>
          <a:prstGeom prst="lef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7432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CAF50"/>
                </a:solidFill>
              </a:defRPr>
            </a:pPr>
            <a:r>
              <a:t>请求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4805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196F3"/>
                </a:solidFill>
              </a:defRPr>
            </a:pPr>
            <a:r>
              <a:t>响应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07 代码结构展示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96F3"/>
                </a:solidFill>
              </a:defRPr>
            </a:pPr>
            <a:r>
              <a:t>后端项目结构 (Spring Boot)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444444"/>
                </a:solidFill>
                <a:latin typeface="Consolas" panose="020B0609020204030204"/>
              </a:defRPr>
            </a:pPr>
            <a:r>
              <a:t>com.food.freshfood/</a:t>
            </a:r>
            <a:br/>
            <a:r>
              <a:t>├── controller/          # 控制层</a:t>
            </a:r>
            <a:br/>
            <a:r>
              <a:t>│   ├── UserController</a:t>
            </a:r>
            <a:br/>
            <a:r>
              <a:t>│   ├── ProductController</a:t>
            </a:r>
            <a:br/>
            <a:r>
              <a:t>│   ├── CartController</a:t>
            </a:r>
            <a:br/>
            <a:r>
              <a:t>│   ├── OrderController</a:t>
            </a:r>
            <a:br/>
            <a:r>
              <a:t>│   └── AddressController</a:t>
            </a:r>
            <a:br/>
            <a:r>
              <a:t>├── service/             # 业务层</a:t>
            </a:r>
            <a:br/>
            <a:r>
              <a:t>│   ├── UserService</a:t>
            </a:r>
            <a:br/>
            <a:r>
              <a:t>│   ├── ProductService</a:t>
            </a:r>
            <a:br/>
            <a:r>
              <a:t>│   └── OrderService</a:t>
            </a:r>
            <a:br/>
            <a:r>
              <a:t>├── mapper/              # 数据层</a:t>
            </a:r>
            <a:br/>
            <a:r>
              <a:t>│   ├── UserMapper</a:t>
            </a:r>
            <a:br/>
            <a:r>
              <a:t>│   ├── SpuMapper</a:t>
            </a:r>
            <a:br/>
            <a:r>
              <a:t>│   └── SkuMapper</a:t>
            </a:r>
            <a:br/>
            <a:r>
              <a:t>├── entity/              # 实体类</a:t>
            </a:r>
            <a:br/>
            <a:r>
              <a:t>│   ├── User</a:t>
            </a:r>
            <a:br/>
            <a:r>
              <a:t>│   ├── Spu</a:t>
            </a:r>
            <a:br/>
            <a:r>
              <a:t>│   ├── Sku</a:t>
            </a:r>
            <a:br/>
            <a:r>
              <a:t>│   └── OrderInfo</a:t>
            </a:r>
            <a:br/>
            <a:r>
              <a:t>├── dto/                 # 数据传输对象</a:t>
            </a:r>
            <a:br/>
            <a:r>
              <a:t>│   ├── LoginDTO</a:t>
            </a:r>
            <a:br/>
            <a:r>
              <a:t>│   └── OrderDTO</a:t>
            </a:r>
            <a:br/>
            <a:r>
              <a:t>└── config/              # 配置类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前端项目结构 (Vue 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45920"/>
            <a:ext cx="4206240" cy="48463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444444"/>
                </a:solidFill>
                <a:latin typeface="Consolas" panose="020B0609020204030204"/>
              </a:defRPr>
            </a:pPr>
            <a:r>
              <a:t>frontend/src/</a:t>
            </a:r>
            <a:br/>
            <a:r>
              <a:t>├── views/               # 页面组件</a:t>
            </a:r>
            <a:br/>
            <a:r>
              <a:t>│   ├── HomeView.vue     # 首页</a:t>
            </a:r>
            <a:br/>
            <a:r>
              <a:t>│   ├── Shop.vue         # 分类页</a:t>
            </a:r>
            <a:br/>
            <a:r>
              <a:t>│   ├── ProductDetail.vue # 商品详情</a:t>
            </a:r>
            <a:br/>
            <a:r>
              <a:t>│   ├── Cart.vue         # 购物车</a:t>
            </a:r>
            <a:br/>
            <a:r>
              <a:t>│   ├── OrderConfirm.vue # 订单确认</a:t>
            </a:r>
            <a:br/>
            <a:r>
              <a:t>│   ├── OrderList.vue    # 订单列表</a:t>
            </a:r>
            <a:br/>
            <a:r>
              <a:t>│   ├── Login.vue        # 登录</a:t>
            </a:r>
            <a:br/>
            <a:r>
              <a:t>│   └── Register.vue     # 注册</a:t>
            </a:r>
            <a:br/>
            <a:r>
              <a:t>├── components/          # 公共组件</a:t>
            </a:r>
            <a:br/>
            <a:r>
              <a:t>│   └── TabBar.vue       # 底部导航</a:t>
            </a:r>
            <a:br/>
            <a:r>
              <a:t>├── router/              # 路由配置</a:t>
            </a:r>
            <a:br/>
            <a:r>
              <a:t>│   └── index.js</a:t>
            </a:r>
            <a:br/>
            <a:r>
              <a:t>├── stores/              # 状态管理</a:t>
            </a:r>
            <a:br/>
            <a:r>
              <a:t>│   └── user.js          # 用户状态</a:t>
            </a:r>
            <a:br/>
            <a:r>
              <a:t>├── api/                 # API接口</a:t>
            </a:r>
            <a:br/>
            <a:r>
              <a:t>│   └── index.js         # 接口封装</a:t>
            </a:r>
            <a:br/>
            <a:r>
              <a:t>└── assets/              # 静态资源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05 数据库设计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4114800" cy="118872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📊 user - 用户表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id, username, password, phone, avatar, create_time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560320"/>
            <a:ext cx="4114800" cy="118872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📊 category - 分类表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id, name, parent_id, level, sort_order,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931920"/>
            <a:ext cx="4114800" cy="118872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📊 spu - 商品表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id, name, category_id, brand, description, main_image, is_cold_chain, shelf_life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5303520"/>
            <a:ext cx="4114800" cy="118872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B5E20"/>
                </a:solidFill>
              </a:defRPr>
            </a:pPr>
            <a:r>
              <a:t>📊 sku - 规格表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id, spu_id, sku_name, sku_code, price, original_price, stock, weight_desc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88720"/>
            <a:ext cx="4114800" cy="118872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D47A1"/>
                </a:solidFill>
              </a:defRPr>
            </a:pPr>
            <a:r>
              <a:t>📊 address - 地址表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id, user_id, name, phone, province, city, district, detail, is_default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560320"/>
            <a:ext cx="4114800" cy="118872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D47A1"/>
                </a:solidFill>
              </a:defRPr>
            </a:pPr>
            <a:r>
              <a:t>📊 order_info - 订单表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id, order_no, user_id, total_amount, status, address_snapshot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931920"/>
            <a:ext cx="4114800" cy="1188720"/>
          </a:xfrm>
          <a:prstGeom prst="round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D47A1"/>
                </a:solidFill>
              </a:defRPr>
            </a:pPr>
            <a:r>
              <a:t>📊 order_item - 订单项表</a:t>
            </a:r>
          </a:p>
          <a:p>
            <a:pPr>
              <a:defRPr sz="1100">
                <a:solidFill>
                  <a:srgbClr val="444444"/>
                </a:solidFill>
              </a:defRPr>
            </a:pPr>
            <a:r>
              <a:t>id, order_id, sku_id, sku_name, price, quantity, subtotal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6217920"/>
            <a:ext cx="8595360" cy="45720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44444"/>
                </a:solidFill>
              </a:defRPr>
            </a:pPr>
            <a:r>
              <a:t>设计特点：SPU/SKU分离模型 | 软删除 | 时间戳自动维护 | 逻辑外键 | 地址快照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08 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2560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B5E20"/>
                </a:solidFill>
              </a:defRPr>
            </a:pPr>
            <a:r>
              <a:t>✅ 项目成果</a:t>
            </a:r>
          </a:p>
          <a:p/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完成全栈生鲜电商系统开发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实现前后端分离架构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包含7个核心业务模块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支持完整的购物流程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响应式移动端适配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SPU/SKU标准商品模型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371600"/>
            <a:ext cx="3840480" cy="25603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D47A1"/>
                </a:solidFill>
              </a:defRPr>
            </a:pPr>
            <a:r>
              <a:t>🚀 未来展望</a:t>
            </a:r>
          </a:p>
          <a:p/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集成支付功能（微信/支付宝）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添加商品搜索功能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实现优惠券系统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接入物流追踪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部署上线运营</a:t>
            </a:r>
          </a:p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• 性能优化与监控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121"/>
                </a:solidFill>
              </a:defRPr>
            </a:pPr>
            <a:r>
              <a:t>技术亮点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54880"/>
            <a:ext cx="1920240" cy="164592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CAF50"/>
                </a:solidFill>
              </a:defRPr>
            </a:pPr>
            <a:r>
              <a:t>SPU/SKU模型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标准电商商品架构，支持多规格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4754880"/>
            <a:ext cx="1920240" cy="164592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CAF50"/>
                </a:solidFill>
              </a:defRPr>
            </a:pPr>
            <a:r>
              <a:t>前后端分离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RESTful API，独立部署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754880"/>
            <a:ext cx="1920240" cy="164592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CAF50"/>
                </a:solidFill>
              </a:defRPr>
            </a:pPr>
            <a:r>
              <a:t>组件化开发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Vue 3组合式API，代码复用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4754880"/>
            <a:ext cx="1920240" cy="1645920"/>
          </a:xfrm>
          <a:prstGeom prst="roundRect">
            <a:avLst/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4CAF50"/>
                </a:solidFill>
              </a:defRPr>
            </a:pPr>
            <a:r>
              <a:t>响应式设计</a:t>
            </a:r>
          </a:p>
          <a:p>
            <a:pPr algn="ctr">
              <a:defRPr sz="1200">
                <a:solidFill>
                  <a:srgbClr val="757575"/>
                </a:solidFill>
              </a:defRPr>
            </a:pPr>
            <a:r>
              <a:t>Bootstrap 5，多端适配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4572000"/>
            <a:ext cx="2743200" cy="274320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E6C9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鲜食汇 - 生鲜电商系统</a:t>
            </a:r>
          </a:p>
          <a:p>
            <a:pPr algn="ctr">
              <a:defRPr sz="1600">
                <a:solidFill>
                  <a:srgbClr val="C8E6C9"/>
                </a:solidFill>
              </a:defRPr>
            </a:pPr>
            <a:r>
              <a:t>Spring Boot + Vue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4799</Words>
  <Application>WPS 演示</Application>
  <PresentationFormat>On-screen Show (4:3)</PresentationFormat>
  <Paragraphs>461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Consolas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深海少女心.</cp:lastModifiedBy>
  <cp:revision>2</cp:revision>
  <dcterms:created xsi:type="dcterms:W3CDTF">2013-01-27T09:14:00Z</dcterms:created>
  <dcterms:modified xsi:type="dcterms:W3CDTF">2026-06-30T09:37:32Z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D55E4EA754904E8DAEA65AFCF9842DA2_12</vt:lpwstr>
  </property>
  <property fmtid="{D5CDD505-2E9C-101B-9397-08002B2CF9AE}" pid="3" name="KSOProductBuildVer">
    <vt:lpwstr>2052-12.1.0.26895</vt:lpwstr>
  </property>
</Properties>
</file>